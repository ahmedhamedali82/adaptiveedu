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t.me/AdaptiveEdubot" TargetMode="External"/><Relationship Id="rId3" Type="http://schemas.openxmlformats.org/officeDocument/2006/relationships/hyperlink" Target="https://github.com/ahmedhamedali82/AdaptiveEdu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hmedhamedali82/AdaptiveEdu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hmedhamedali82/AdaptiveEdu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hmedhamedali82/AdaptiveEdu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hmedhamedali82/AdaptiveEdu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hmedhamedali82/AdaptiveEdu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hmedhamedali82/AdaptiveEdu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hmedhamedali82/AdaptiveEdu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hmedhamedali82/AdaptiveEdu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hmedhamedali82/AdaptiveEdu" TargetMode="Externa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hmedhamedali82/AdaptiveEdu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hmedhamedali82/AdaptiveEdu" TargetMode="External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hmedhamedali82/AdaptiveEdu" TargetMode="External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hmedhamedali82/AdaptiveEdu" TargetMode="Externa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hmedhamedali82/AdaptiveEdu" TargetMode="Externa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hmedhamedali82/AdaptiveEdu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hmedhamedali82/AdaptiveEdu" TargetMode="External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hmedhamedali82/AdaptiveEdu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hmedhamedali82/AdaptiveEdu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863840" y="0"/>
            <a:ext cx="4327855" cy="6858000"/>
          </a:xfrm>
          <a:prstGeom prst="rect">
            <a:avLst/>
          </a:prstGeom>
          <a:solidFill>
            <a:srgbClr val="1B3A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6949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E8C7E"/>
                </a:solidFill>
                <a:latin typeface="Calibri"/>
              </a:rPr>
              <a:t>DEPI GRADUATION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69494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AdaptiveEdu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560320"/>
            <a:ext cx="69494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Telegram study bot for 1st Secondary.
Register → choose subject → AI lesson PDF
→ submit Excel quiz → Pass / Fail by email.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434840"/>
            <a:ext cx="6949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n8n  ·  Gemini  ·  3 Google Sheets  ·  Gmail  ·  Drive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892040"/>
            <a:ext cx="6949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E8C7E"/>
                </a:solidFill>
                <a:latin typeface="Calibri"/>
                <a:hlinkClick r:id="rId2"/>
              </a:rPr>
              <a:t>https://t.me/AdaptiveEdubot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349240"/>
            <a:ext cx="6949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0E8C7E"/>
                </a:solidFill>
                <a:latin typeface="Calibri"/>
                <a:hlinkClick r:id="rId3"/>
              </a:rPr>
              <a:t>https://github.com/ahmedhamedali82/AdaptiveEdu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1325880"/>
            <a:ext cx="37490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1  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1874519"/>
            <a:ext cx="37490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2  Student journey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2423160"/>
            <a:ext cx="37490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3  3 Sheets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2971800"/>
            <a:ext cx="37490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4  n8n steps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3520439"/>
            <a:ext cx="37490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5  Live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4069080"/>
            <a:ext cx="37490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6  Demo emails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4617720"/>
            <a:ext cx="37490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7  Pass / Fail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5166360"/>
            <a:ext cx="37490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8  Deliverables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537960"/>
            <a:ext cx="822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6601968"/>
            <a:ext cx="12081967" cy="256032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96012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6676"/>
                </a:solidFill>
                <a:latin typeface="Calibri"/>
                <a:hlinkClick r:id="rId2"/>
              </a:rPr>
              <a:t>https://github.com/ahmedhamedali82/AdaptiveEdu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6304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C7E"/>
                </a:solidFill>
                <a:latin typeface="Calibri"/>
              </a:rPr>
              <a:t>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65760"/>
            <a:ext cx="11338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1"/>
                </a:solidFill>
                <a:latin typeface="Calibri"/>
              </a:rPr>
              <a:t>Team members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04672"/>
            <a:ext cx="1280160" cy="54864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5760" y="1051560"/>
            <a:ext cx="11430000" cy="868680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1234439"/>
            <a:ext cx="502920" cy="502920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234439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161288"/>
            <a:ext cx="5669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0F2744"/>
                </a:solidFill>
                <a:latin typeface="Calibri"/>
              </a:rPr>
              <a:t>Ehab Mohamed Abdellatif Zaki (Team Leader)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1161288"/>
            <a:ext cx="4389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C2430"/>
                </a:solidFill>
                <a:latin typeface="Calibri"/>
              </a:rPr>
              <a:t>eh_latif@hotmail.com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075688"/>
            <a:ext cx="11430000" cy="8686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2258568"/>
            <a:ext cx="502920" cy="502920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258568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2185416"/>
            <a:ext cx="5669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0F2744"/>
                </a:solidFill>
                <a:latin typeface="Calibri"/>
              </a:rPr>
              <a:t>Ahmed Hamed Mohamed Elfeky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2185416"/>
            <a:ext cx="4389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C2430"/>
                </a:solidFill>
                <a:latin typeface="Calibri"/>
              </a:rPr>
              <a:t>ahmed.hamedmohamed1@gmail.com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3099816"/>
            <a:ext cx="11430000" cy="868680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3282696"/>
            <a:ext cx="502920" cy="502920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3282696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3209544"/>
            <a:ext cx="5669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0F2744"/>
                </a:solidFill>
                <a:latin typeface="Calibri"/>
              </a:rPr>
              <a:t>Aamn Ehab Sayed Mohamed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0" y="3209544"/>
            <a:ext cx="4389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C2430"/>
                </a:solidFill>
                <a:latin typeface="Calibri"/>
              </a:rPr>
              <a:t>aamnehab100@gmail.com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4123944"/>
            <a:ext cx="11430000" cy="8686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02920" y="4306824"/>
            <a:ext cx="502920" cy="502920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4306824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4233672"/>
            <a:ext cx="5669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0F2744"/>
                </a:solidFill>
                <a:latin typeface="Calibri"/>
              </a:rPr>
              <a:t>Abdelrahman Khaled Abdelmenium Younis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0" y="4233672"/>
            <a:ext cx="4389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C2430"/>
                </a:solidFill>
                <a:latin typeface="Calibri"/>
              </a:rPr>
              <a:t>abdelrahmanyonis1@gmail.com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5148072"/>
            <a:ext cx="11430000" cy="868680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02920" y="5330952"/>
            <a:ext cx="502920" cy="502920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5330952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34440" y="5257800"/>
            <a:ext cx="5669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0F2744"/>
                </a:solidFill>
                <a:latin typeface="Calibri"/>
              </a:rPr>
              <a:t>Mahmoud Abdelsalam Elsayed Alsisi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0" y="5257800"/>
            <a:ext cx="4389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C2430"/>
                </a:solidFill>
                <a:latin typeface="Calibri"/>
              </a:rPr>
              <a:t>alsisiagric84@live.com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6601968"/>
            <a:ext cx="12081967" cy="256032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96012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6676"/>
                </a:solidFill>
                <a:latin typeface="Calibri"/>
                <a:hlinkClick r:id="rId2"/>
              </a:rPr>
              <a:t>https://github.com/ahmedhamedali82/AdaptiveEdu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Calibr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6304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C7E"/>
                </a:solidFill>
                <a:latin typeface="Calibri"/>
              </a:rPr>
              <a:t>WHY THIS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65760"/>
            <a:ext cx="11338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1"/>
                </a:solidFill>
                <a:latin typeface="Calibri"/>
              </a:rPr>
              <a:t>Problem and solution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04672"/>
            <a:ext cx="1280160" cy="54864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5760" y="1051560"/>
            <a:ext cx="5623560" cy="5212080"/>
          </a:xfrm>
          <a:prstGeom prst="roundRect">
            <a:avLst>
              <a:gd name="adj" fmla="val 8000"/>
            </a:avLst>
          </a:prstGeom>
          <a:solidFill>
            <a:srgbClr val="FFF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051560"/>
            <a:ext cx="91440" cy="5212080"/>
          </a:xfrm>
          <a:prstGeom prst="rect">
            <a:avLst/>
          </a:prstGeom>
          <a:solidFill>
            <a:srgbClr val="E87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179576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744"/>
                </a:solidFill>
                <a:latin typeface="Calibri"/>
              </a:rPr>
              <a:t>Problem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554480"/>
            <a:ext cx="530352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C2430"/>
                </a:solidFill>
                <a:latin typeface="Calibri"/>
              </a:rPr>
              <a:t>One class. One pace. One book.
A student who fails still moves on.
A teacher cannot follow every student by hand.
We need: finish this lesson before the next one — with proof.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051560"/>
            <a:ext cx="5623560" cy="5212080"/>
          </a:xfrm>
          <a:prstGeom prst="roundRect">
            <a:avLst>
              <a:gd name="adj" fmla="val 8000"/>
            </a:avLst>
          </a:prstGeom>
          <a:solidFill>
            <a:srgbClr val="E6F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051560"/>
            <a:ext cx="91440" cy="5212080"/>
          </a:xfrm>
          <a:prstGeom prst="rect">
            <a:avLst/>
          </a:prstGeom>
          <a:solidFill>
            <a:srgbClr val="2E8C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1179576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744"/>
                </a:solidFill>
                <a:latin typeface="Calibri"/>
              </a:rPr>
              <a:t>Solution — AdaptiveEdu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1554480"/>
            <a:ext cx="530352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C2430"/>
                </a:solidFill>
                <a:latin typeface="Calibri"/>
              </a:rPr>
              <a:t>A live Telegram bot.
1) Student sends ID (ST005).
2) Chooses a subject code.
3) Gemini builds the next lesson as PDF + 10 MCQs.
4) Student uploads Excel answers.
5) Score saved. Email: Pass or Fail.
Bot: t.me/AdaptiveEdubot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6601968"/>
            <a:ext cx="12081967" cy="256032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96012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6676"/>
                </a:solidFill>
                <a:latin typeface="Calibri"/>
                <a:hlinkClick r:id="rId2"/>
              </a:rPr>
              <a:t>https://github.com/ahmedhamedali82/AdaptiveEdu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Calibr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6304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C7E"/>
                </a:solidFill>
                <a:latin typeface="Calibri"/>
              </a:rPr>
              <a:t>STUDENT JOURNEY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65760"/>
            <a:ext cx="11338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1"/>
                </a:solidFill>
                <a:latin typeface="Calibri"/>
              </a:rPr>
              <a:t>Eight clear steps (demo path)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04672"/>
            <a:ext cx="1280160" cy="54864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5760" y="1097280"/>
            <a:ext cx="2788920" cy="2468880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371600" y="132588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1325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148839"/>
            <a:ext cx="2514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0F2744"/>
                </a:solidFill>
                <a:latin typeface="Calibri"/>
              </a:rPr>
              <a:t>Open bot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651760"/>
            <a:ext cx="2514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1C2430"/>
                </a:solidFill>
                <a:latin typeface="Calibri"/>
              </a:rPr>
              <a:t>t.me/AdaptiveEdubot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91840" y="1097280"/>
            <a:ext cx="2788920" cy="2468880"/>
          </a:xfrm>
          <a:prstGeom prst="roundRect">
            <a:avLst>
              <a:gd name="adj" fmla="val 8000"/>
            </a:avLst>
          </a:prstGeom>
          <a:solidFill>
            <a:srgbClr val="E6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297680" y="132588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97680" y="1325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9000" y="2148839"/>
            <a:ext cx="2514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0F2744"/>
                </a:solidFill>
                <a:latin typeface="Calibri"/>
              </a:rPr>
              <a:t>Send 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9000" y="2651760"/>
            <a:ext cx="2514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1C2430"/>
                </a:solidFill>
                <a:latin typeface="Calibri"/>
              </a:rPr>
              <a:t>ST005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1097280"/>
            <a:ext cx="2788920" cy="2468880"/>
          </a:xfrm>
          <a:prstGeom prst="roundRect">
            <a:avLst>
              <a:gd name="adj" fmla="val 8000"/>
            </a:avLst>
          </a:prstGeom>
          <a:solidFill>
            <a:srgbClr val="FFF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223760" y="132588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0" y="1325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2148839"/>
            <a:ext cx="2514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0F2744"/>
                </a:solidFill>
                <a:latin typeface="Calibri"/>
              </a:rPr>
              <a:t>Pick subject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651760"/>
            <a:ext cx="2514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1C2430"/>
                </a:solidFill>
                <a:latin typeface="Calibri"/>
              </a:rPr>
              <a:t>Send 8 = Physical Education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0" y="1097280"/>
            <a:ext cx="2788920" cy="2468880"/>
          </a:xfrm>
          <a:prstGeom prst="roundRect">
            <a:avLst>
              <a:gd name="adj" fmla="val 8000"/>
            </a:avLst>
          </a:prstGeom>
          <a:solidFill>
            <a:srgbClr val="E6F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149840" y="132588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49840" y="1325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81160" y="2148839"/>
            <a:ext cx="2514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0F2744"/>
                </a:solidFill>
                <a:latin typeface="Calibri"/>
              </a:rPr>
              <a:t>Get lesson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81160" y="2651760"/>
            <a:ext cx="2514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1C2430"/>
                </a:solidFill>
                <a:latin typeface="Calibri"/>
              </a:rPr>
              <a:t>PDF attached by email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3794760"/>
            <a:ext cx="2788920" cy="2468880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371600" y="402336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371600" y="40233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4846320"/>
            <a:ext cx="2514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0F2744"/>
                </a:solidFill>
                <a:latin typeface="Calibri"/>
              </a:rPr>
              <a:t>Study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5349240"/>
            <a:ext cx="2514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1C2430"/>
                </a:solidFill>
                <a:latin typeface="Calibri"/>
              </a:rPr>
              <a:t>Open PDF attachment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291840" y="3794760"/>
            <a:ext cx="2788920" cy="2468880"/>
          </a:xfrm>
          <a:prstGeom prst="roundRect">
            <a:avLst>
              <a:gd name="adj" fmla="val 8000"/>
            </a:avLst>
          </a:prstGeom>
          <a:solidFill>
            <a:srgbClr val="E6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297680" y="402336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297680" y="40233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29000" y="4846320"/>
            <a:ext cx="2514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0F2744"/>
                </a:solidFill>
                <a:latin typeface="Calibri"/>
              </a:rPr>
              <a:t>Answer file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29000" y="5349240"/>
            <a:ext cx="2514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1C2430"/>
                </a:solidFill>
                <a:latin typeface="Calibri"/>
              </a:rPr>
              <a:t>ST005_8_1.xlsx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17920" y="3794760"/>
            <a:ext cx="2788920" cy="2468880"/>
          </a:xfrm>
          <a:prstGeom prst="roundRect">
            <a:avLst>
              <a:gd name="adj" fmla="val 8000"/>
            </a:avLst>
          </a:prstGeom>
          <a:solidFill>
            <a:srgbClr val="FFF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223760" y="402336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223760" y="40233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5080" y="4846320"/>
            <a:ext cx="2514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0F2744"/>
                </a:solidFill>
                <a:latin typeface="Calibri"/>
              </a:rPr>
              <a:t>Upload Excel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55080" y="5349240"/>
            <a:ext cx="2514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1C2430"/>
                </a:solidFill>
                <a:latin typeface="Calibri"/>
              </a:rPr>
              <a:t>On Telegram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144000" y="3794760"/>
            <a:ext cx="2788920" cy="2468880"/>
          </a:xfrm>
          <a:prstGeom prst="roundRect">
            <a:avLst>
              <a:gd name="adj" fmla="val 8000"/>
            </a:avLst>
          </a:prstGeom>
          <a:solidFill>
            <a:srgbClr val="E6F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0149840" y="402336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149840" y="40233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81160" y="4846320"/>
            <a:ext cx="2514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0F2744"/>
                </a:solidFill>
                <a:latin typeface="Calibri"/>
              </a:rPr>
              <a:t>Result email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81160" y="5349240"/>
            <a:ext cx="2514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1C2430"/>
                </a:solidFill>
                <a:latin typeface="Calibri"/>
              </a:rPr>
              <a:t>Pass (&gt;6) or Fail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6601968"/>
            <a:ext cx="12081967" cy="256032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96012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6676"/>
                </a:solidFill>
                <a:latin typeface="Calibri"/>
                <a:hlinkClick r:id="rId2"/>
              </a:rPr>
              <a:t>https://github.com/ahmedhamedali82/AdaptiveEdu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Calibr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6304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C7E"/>
                </a:solidFill>
                <a:latin typeface="Calibri"/>
              </a:rPr>
              <a:t>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65760"/>
            <a:ext cx="11338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1"/>
                </a:solidFill>
                <a:latin typeface="Calibri"/>
              </a:rPr>
              <a:t>Three Google Sheets the bot uses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04672"/>
            <a:ext cx="1280160" cy="54864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5760" y="1051560"/>
            <a:ext cx="3703320" cy="5212080"/>
          </a:xfrm>
          <a:prstGeom prst="roundRect">
            <a:avLst>
              <a:gd name="adj" fmla="val 8000"/>
            </a:avLst>
          </a:prstGeom>
          <a:solidFill>
            <a:srgbClr val="E6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051560"/>
            <a:ext cx="91440" cy="5212080"/>
          </a:xfrm>
          <a:prstGeom prst="rect">
            <a:avLst/>
          </a:prstGeom>
          <a:solidFill>
            <a:srgbClr val="1B3A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179576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1  Students_Data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554480"/>
            <a:ext cx="338328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C2430"/>
                </a:solidFill>
                <a:latin typeface="Calibri"/>
              </a:rPr>
              <a:t>Who is the student?
student_id
student_name
telegram_chat_id
email
status (waiting flag)
First login saves chat ID.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60" y="1051560"/>
            <a:ext cx="3703320" cy="5212080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51960" y="1051560"/>
            <a:ext cx="91440" cy="521208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1179576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2  Lessons_Data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1554480"/>
            <a:ext cx="338328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C2430"/>
                </a:solidFill>
                <a:latin typeface="Calibri"/>
              </a:rPr>
              <a:t>What can we teach?
Tab subject:
1–8 subject codes
Tab Lessons_Data:
lesson_code + lesson_name
per subject
Next lesson = first not passed.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1051560"/>
            <a:ext cx="3703320" cy="5212080"/>
          </a:xfrm>
          <a:prstGeom prst="roundRect">
            <a:avLst>
              <a:gd name="adj" fmla="val 8000"/>
            </a:avLst>
          </a:prstGeom>
          <a:solidFill>
            <a:srgbClr val="FFF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38160" y="1051560"/>
            <a:ext cx="91440" cy="5212080"/>
          </a:xfrm>
          <a:prstGeom prst="rect">
            <a:avLst/>
          </a:prstGeom>
          <a:solidFill>
            <a:srgbClr val="E87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1179576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3  student_progress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1554480"/>
            <a:ext cx="338328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C2430"/>
                </a:solidFill>
                <a:latin typeface="Calibri"/>
              </a:rPr>
              <a:t>History log.
student + subject + lesson
date, grade, succeed
FILE_NAME
ANS_1 … ANS_10
Append / update each attempt.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6601968"/>
            <a:ext cx="12081967" cy="256032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96012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6676"/>
                </a:solidFill>
                <a:latin typeface="Calibri"/>
                <a:hlinkClick r:id="rId2"/>
              </a:rPr>
              <a:t>https://github.com/ahmedhamedali82/AdaptiveEdu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Calibr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6304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C7E"/>
                </a:solidFill>
                <a:latin typeface="Calibri"/>
              </a:rPr>
              <a:t>SHEET LINKS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65760"/>
            <a:ext cx="11338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1"/>
                </a:solidFill>
                <a:latin typeface="Calibri"/>
              </a:rPr>
              <a:t>Open these in the live demo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04672"/>
            <a:ext cx="1280160" cy="54864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5760" y="1051560"/>
            <a:ext cx="11430000" cy="1554480"/>
          </a:xfrm>
          <a:prstGeom prst="roundRect">
            <a:avLst>
              <a:gd name="adj" fmla="val 8000"/>
            </a:avLst>
          </a:prstGeom>
          <a:solidFill>
            <a:srgbClr val="E6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051560"/>
            <a:ext cx="91440" cy="1554480"/>
          </a:xfrm>
          <a:prstGeom prst="rect">
            <a:avLst/>
          </a:prstGeom>
          <a:solidFill>
            <a:srgbClr val="1B3A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179576"/>
            <a:ext cx="11109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Students_Data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554480"/>
            <a:ext cx="11109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C2430"/>
                </a:solidFill>
                <a:latin typeface="Calibri"/>
              </a:rPr>
              <a:t>https://docs.google.com/spreadsheets/d/1ddIwenYjiwKryP7Pogxe-7qsjKnTmtfCtAlDoplSn5Q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2788920"/>
            <a:ext cx="11430000" cy="1554480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788920"/>
            <a:ext cx="91440" cy="155448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916936"/>
            <a:ext cx="11109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Lessons_Data (subject + lessons)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291840"/>
            <a:ext cx="11109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C2430"/>
                </a:solidFill>
                <a:latin typeface="Calibri"/>
              </a:rPr>
              <a:t>https://docs.google.com/spreadsheets/d/1akeM65odle57kxtR7M5LqFMnxCsHX3M1cJKKltExFEg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526280"/>
            <a:ext cx="11430000" cy="1554480"/>
          </a:xfrm>
          <a:prstGeom prst="roundRect">
            <a:avLst>
              <a:gd name="adj" fmla="val 8000"/>
            </a:avLst>
          </a:prstGeom>
          <a:solidFill>
            <a:srgbClr val="FFF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4526280"/>
            <a:ext cx="91440" cy="1554480"/>
          </a:xfrm>
          <a:prstGeom prst="rect">
            <a:avLst/>
          </a:prstGeom>
          <a:solidFill>
            <a:srgbClr val="E87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654296"/>
            <a:ext cx="11109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student_progress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029200"/>
            <a:ext cx="11109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C2430"/>
                </a:solidFill>
                <a:latin typeface="Calibri"/>
              </a:rPr>
              <a:t>https://docs.google.com/spreadsheets/d/1II6ckyiKFucKsC38PC_0a9tH1h8H0JZe3qaclLxCExY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6601968"/>
            <a:ext cx="12081967" cy="256032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96012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6676"/>
                </a:solidFill>
                <a:latin typeface="Calibri"/>
                <a:hlinkClick r:id="rId2"/>
              </a:rPr>
              <a:t>https://github.com/ahmedhamedali82/AdaptiveEdu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Calibri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6304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C7E"/>
                </a:solidFill>
                <a:latin typeface="Calibri"/>
              </a:rPr>
              <a:t>N8N STEPS  · 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65760"/>
            <a:ext cx="11338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1"/>
                </a:solidFill>
                <a:latin typeface="Calibri"/>
              </a:rPr>
              <a:t>Register path (first time)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04672"/>
            <a:ext cx="1280160" cy="54864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5760" y="1005840"/>
            <a:ext cx="11430000" cy="658368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1115568"/>
            <a:ext cx="438912" cy="438912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115568"/>
            <a:ext cx="43891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1097280"/>
            <a:ext cx="411480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F2744"/>
                </a:solidFill>
                <a:latin typeface="Calibri"/>
              </a:rPr>
              <a:t>1 Telegram Trigger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1097280"/>
            <a:ext cx="612648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C2430"/>
                </a:solidFill>
                <a:latin typeface="Calibri"/>
              </a:rPr>
              <a:t>New message arrives.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1755648"/>
            <a:ext cx="11430000" cy="658368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1865376"/>
            <a:ext cx="438912" cy="438912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1865376"/>
            <a:ext cx="43891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1847088"/>
            <a:ext cx="411480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F2744"/>
                </a:solidFill>
                <a:latin typeface="Calibri"/>
              </a:rPr>
              <a:t>2 Get row by chat 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94960" y="1847088"/>
            <a:ext cx="612648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C2430"/>
                </a:solidFill>
                <a:latin typeface="Calibri"/>
              </a:rPr>
              <a:t>Look up Students_Data.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2505456"/>
            <a:ext cx="11430000" cy="658368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2615184"/>
            <a:ext cx="438912" cy="438912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2615184"/>
            <a:ext cx="43891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2596896"/>
            <a:ext cx="411480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F2744"/>
                </a:solidFill>
                <a:latin typeface="Calibri"/>
              </a:rPr>
              <a:t>3 status ≠ waiting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2596896"/>
            <a:ext cx="612648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C2430"/>
                </a:solidFill>
                <a:latin typeface="Calibri"/>
              </a:rPr>
              <a:t>Treat as register / menu.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3255264"/>
            <a:ext cx="11430000" cy="658368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02920" y="3364992"/>
            <a:ext cx="438912" cy="438912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3364992"/>
            <a:ext cx="43891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3346704"/>
            <a:ext cx="411480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F2744"/>
                </a:solidFill>
                <a:latin typeface="Calibri"/>
              </a:rPr>
              <a:t>4 Search student 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94960" y="3346704"/>
            <a:ext cx="612648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C2430"/>
                </a:solidFill>
                <a:latin typeface="Calibri"/>
              </a:rPr>
              <a:t>Match text like ST005.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4005072"/>
            <a:ext cx="11430000" cy="658368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02920" y="4114800"/>
            <a:ext cx="438912" cy="438912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4114800"/>
            <a:ext cx="43891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3000" y="4096511"/>
            <a:ext cx="411480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F2744"/>
                </a:solidFill>
                <a:latin typeface="Calibri"/>
              </a:rPr>
              <a:t>5 Update chat ID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94960" y="4096511"/>
            <a:ext cx="612648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C2430"/>
                </a:solidFill>
                <a:latin typeface="Calibri"/>
              </a:rPr>
              <a:t>Save Telegram id once.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5760" y="4754879"/>
            <a:ext cx="11430000" cy="658368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02920" y="4864607"/>
            <a:ext cx="438912" cy="438912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4864607"/>
            <a:ext cx="43891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4846319"/>
            <a:ext cx="411480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F2744"/>
                </a:solidFill>
                <a:latin typeface="Calibri"/>
              </a:rPr>
              <a:t>6 Show subjects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94960" y="4846319"/>
            <a:ext cx="612648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C2430"/>
                </a:solidFill>
                <a:latin typeface="Calibri"/>
              </a:rPr>
              <a:t>List 1–8 + upload tip.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65760" y="5504688"/>
            <a:ext cx="11430000" cy="658368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02920" y="5614416"/>
            <a:ext cx="438912" cy="438912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" y="5614416"/>
            <a:ext cx="43891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3000" y="5596127"/>
            <a:ext cx="411480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F2744"/>
                </a:solidFill>
                <a:latin typeface="Calibri"/>
              </a:rPr>
              <a:t>7 Set waiting=1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394960" y="5596127"/>
            <a:ext cx="612648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C2430"/>
                </a:solidFill>
                <a:latin typeface="Calibri"/>
              </a:rPr>
              <a:t>Next message = subject or file.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6601968"/>
            <a:ext cx="12081967" cy="256032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96012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6676"/>
                </a:solidFill>
                <a:latin typeface="Calibri"/>
                <a:hlinkClick r:id="rId2"/>
              </a:rPr>
              <a:t>https://github.com/ahmedhamedali82/AdaptiveEdu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Calibr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6304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C7E"/>
                </a:solidFill>
                <a:latin typeface="Calibri"/>
              </a:rPr>
              <a:t>N8N STEPS  ·  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65760"/>
            <a:ext cx="11338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1"/>
                </a:solidFill>
                <a:latin typeface="Calibri"/>
              </a:rPr>
              <a:t>Lesson path (subject code)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04672"/>
            <a:ext cx="1280160" cy="54864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0040" y="1051560"/>
            <a:ext cx="2788920" cy="251460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1051560"/>
            <a:ext cx="91440" cy="251460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179576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744"/>
                </a:solidFill>
                <a:latin typeface="Calibri"/>
              </a:rPr>
              <a:t>1 Subject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554480"/>
            <a:ext cx="2468880" cy="1874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C2430"/>
                </a:solidFill>
                <a:latin typeface="Calibri"/>
              </a:rPr>
              <a:t>Text equals SUBJECT_CODE.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46120" y="1051560"/>
            <a:ext cx="2788920" cy="2514600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46120" y="1051560"/>
            <a:ext cx="91440" cy="251460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9000" y="1179576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744"/>
                </a:solidFill>
                <a:latin typeface="Calibri"/>
              </a:rPr>
              <a:t>2 Read 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1554480"/>
            <a:ext cx="2468880" cy="1874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C2430"/>
                </a:solidFill>
                <a:latin typeface="Calibri"/>
              </a:rPr>
              <a:t>Find last passed lesson.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051560"/>
            <a:ext cx="2788920" cy="251460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1051560"/>
            <a:ext cx="91440" cy="251460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1179576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744"/>
                </a:solidFill>
                <a:latin typeface="Calibri"/>
              </a:rPr>
              <a:t>3 Pick next lesson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1554480"/>
            <a:ext cx="2468880" cy="1874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C2430"/>
                </a:solidFill>
                <a:latin typeface="Calibri"/>
              </a:rPr>
              <a:t>Code node get_file.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98280" y="1051560"/>
            <a:ext cx="2788920" cy="2514600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98280" y="1051560"/>
            <a:ext cx="91440" cy="251460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81160" y="1179576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744"/>
                </a:solidFill>
                <a:latin typeface="Calibri"/>
              </a:rPr>
              <a:t>4 Block if pending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81160" y="1554480"/>
            <a:ext cx="2468880" cy="1874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C2430"/>
                </a:solidFill>
                <a:latin typeface="Calibri"/>
              </a:rPr>
              <a:t>Old lesson unanswered → error.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0040" y="3749039"/>
            <a:ext cx="2788920" cy="251460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20040" y="3749039"/>
            <a:ext cx="91440" cy="251460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3877055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744"/>
                </a:solidFill>
                <a:latin typeface="Calibri"/>
              </a:rPr>
              <a:t>5 AI Agent (Gemini)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4251959"/>
            <a:ext cx="2468880" cy="1874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C2430"/>
                </a:solidFill>
                <a:latin typeface="Calibri"/>
              </a:rPr>
              <a:t>Markdown lesson + 10 answers.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46120" y="3749039"/>
            <a:ext cx="2788920" cy="2514600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46120" y="3749039"/>
            <a:ext cx="91440" cy="251460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29000" y="3877055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744"/>
                </a:solidFill>
                <a:latin typeface="Calibri"/>
              </a:rPr>
              <a:t>6 HTML → PDFShift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9000" y="4251959"/>
            <a:ext cx="2468880" cy="1874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C2430"/>
                </a:solidFill>
                <a:latin typeface="Calibri"/>
              </a:rPr>
              <a:t>HTTP Request returns binary PDF.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3749039"/>
            <a:ext cx="2788920" cy="251460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72200" y="3749039"/>
            <a:ext cx="91440" cy="251460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55080" y="3877055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744"/>
                </a:solidFill>
                <a:latin typeface="Calibri"/>
              </a:rPr>
              <a:t>7 Gmail + Telegram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5080" y="4251959"/>
            <a:ext cx="2468880" cy="1874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C2430"/>
                </a:solidFill>
                <a:latin typeface="Calibri"/>
              </a:rPr>
              <a:t>Email PDF attachment + Excel name; Telegram notice.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098280" y="3749039"/>
            <a:ext cx="2788920" cy="2514600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098280" y="3749039"/>
            <a:ext cx="91440" cy="251460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281160" y="3877055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744"/>
                </a:solidFill>
                <a:latin typeface="Calibri"/>
              </a:rPr>
              <a:t>8 Append progress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81160" y="4251959"/>
            <a:ext cx="2468880" cy="1874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C2430"/>
                </a:solidFill>
                <a:latin typeface="Calibri"/>
              </a:rPr>
              <a:t>Open lesson row ready for grading.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6601968"/>
            <a:ext cx="12081967" cy="256032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96012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6676"/>
                </a:solidFill>
                <a:latin typeface="Calibri"/>
                <a:hlinkClick r:id="rId2"/>
              </a:rPr>
              <a:t>https://github.com/ahmedhamedali82/AdaptiveEdu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Calibr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6304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C7E"/>
                </a:solidFill>
                <a:latin typeface="Calibri"/>
              </a:rPr>
              <a:t>N8N STEPS  ·  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65760"/>
            <a:ext cx="11338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1"/>
                </a:solidFill>
                <a:latin typeface="Calibri"/>
              </a:rPr>
              <a:t>Grade path (Excel upload)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04672"/>
            <a:ext cx="1280160" cy="54864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0040" y="1051560"/>
            <a:ext cx="2788920" cy="2514600"/>
          </a:xfrm>
          <a:prstGeom prst="roundRect">
            <a:avLst>
              <a:gd name="adj" fmla="val 8000"/>
            </a:avLst>
          </a:prstGeom>
          <a:solidFill>
            <a:srgbClr val="FFF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1051560"/>
            <a:ext cx="91440" cy="2514600"/>
          </a:xfrm>
          <a:prstGeom prst="rect">
            <a:avLst/>
          </a:prstGeom>
          <a:solidFill>
            <a:srgbClr val="E87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179576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744"/>
                </a:solidFill>
                <a:latin typeface="Calibri"/>
              </a:rPr>
              <a:t>1 Document?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554480"/>
            <a:ext cx="2468880" cy="1874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C2430"/>
                </a:solidFill>
                <a:latin typeface="Calibri"/>
              </a:rPr>
              <a:t>If message has a file.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46120" y="1051560"/>
            <a:ext cx="2788920" cy="2514600"/>
          </a:xfrm>
          <a:prstGeom prst="roundRect">
            <a:avLst>
              <a:gd name="adj" fmla="val 8000"/>
            </a:avLst>
          </a:prstGeom>
          <a:solidFill>
            <a:srgbClr val="FFF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46120" y="1051560"/>
            <a:ext cx="91440" cy="2514600"/>
          </a:xfrm>
          <a:prstGeom prst="rect">
            <a:avLst/>
          </a:prstGeom>
          <a:solidFill>
            <a:srgbClr val="E87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9000" y="1179576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744"/>
                </a:solidFill>
                <a:latin typeface="Calibri"/>
              </a:rPr>
              <a:t>2 Name check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1554480"/>
            <a:ext cx="2468880" cy="1874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C2430"/>
                </a:solidFill>
                <a:latin typeface="Calibri"/>
              </a:rPr>
              <a:t>Must match ST###_sub_les.xlsx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051560"/>
            <a:ext cx="2788920" cy="2514600"/>
          </a:xfrm>
          <a:prstGeom prst="roundRect">
            <a:avLst>
              <a:gd name="adj" fmla="val 8000"/>
            </a:avLst>
          </a:prstGeom>
          <a:solidFill>
            <a:srgbClr val="FFF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1051560"/>
            <a:ext cx="91440" cy="2514600"/>
          </a:xfrm>
          <a:prstGeom prst="rect">
            <a:avLst/>
          </a:prstGeom>
          <a:solidFill>
            <a:srgbClr val="E87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1179576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744"/>
                </a:solidFill>
                <a:latin typeface="Calibri"/>
              </a:rPr>
              <a:t>3 Drive extract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1554480"/>
            <a:ext cx="2468880" cy="1874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C2430"/>
                </a:solidFill>
                <a:latin typeface="Calibri"/>
              </a:rPr>
              <a:t>Upload → download → parse row.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98280" y="1051560"/>
            <a:ext cx="2788920" cy="2514600"/>
          </a:xfrm>
          <a:prstGeom prst="roundRect">
            <a:avLst>
              <a:gd name="adj" fmla="val 8000"/>
            </a:avLst>
          </a:prstGeom>
          <a:solidFill>
            <a:srgbClr val="FFF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98280" y="1051560"/>
            <a:ext cx="91440" cy="2514600"/>
          </a:xfrm>
          <a:prstGeom prst="rect">
            <a:avLst/>
          </a:prstGeom>
          <a:solidFill>
            <a:srgbClr val="E87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81160" y="1179576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744"/>
                </a:solidFill>
                <a:latin typeface="Calibri"/>
              </a:rPr>
              <a:t>4 Compare ANS_1..10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81160" y="1554480"/>
            <a:ext cx="2468880" cy="1874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C2430"/>
                </a:solidFill>
                <a:latin typeface="Calibri"/>
              </a:rPr>
              <a:t>Capital letters vs model answers.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0040" y="3749039"/>
            <a:ext cx="2788920" cy="2514600"/>
          </a:xfrm>
          <a:prstGeom prst="roundRect">
            <a:avLst>
              <a:gd name="adj" fmla="val 8000"/>
            </a:avLst>
          </a:prstGeom>
          <a:solidFill>
            <a:srgbClr val="E6F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20040" y="3749039"/>
            <a:ext cx="91440" cy="2514600"/>
          </a:xfrm>
          <a:prstGeom prst="rect">
            <a:avLst/>
          </a:prstGeom>
          <a:solidFill>
            <a:srgbClr val="2E8C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3877055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744"/>
                </a:solidFill>
                <a:latin typeface="Calibri"/>
              </a:rPr>
              <a:t>5 Score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4251959"/>
            <a:ext cx="2468880" cy="1874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C2430"/>
                </a:solidFill>
                <a:latin typeface="Calibri"/>
              </a:rPr>
              <a:t>grade = correct count / 10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46120" y="3749039"/>
            <a:ext cx="2788920" cy="2514600"/>
          </a:xfrm>
          <a:prstGeom prst="roundRect">
            <a:avLst>
              <a:gd name="adj" fmla="val 8000"/>
            </a:avLst>
          </a:prstGeom>
          <a:solidFill>
            <a:srgbClr val="E6F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46120" y="3749039"/>
            <a:ext cx="91440" cy="2514600"/>
          </a:xfrm>
          <a:prstGeom prst="rect">
            <a:avLst/>
          </a:prstGeom>
          <a:solidFill>
            <a:srgbClr val="2E8C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29000" y="3877055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744"/>
                </a:solidFill>
                <a:latin typeface="Calibri"/>
              </a:rPr>
              <a:t>6 Pass rule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9000" y="4251959"/>
            <a:ext cx="2468880" cy="1874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C2430"/>
                </a:solidFill>
                <a:latin typeface="Calibri"/>
              </a:rPr>
              <a:t>Pass if grade &gt; 6  else Fail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3749039"/>
            <a:ext cx="2788920" cy="2514600"/>
          </a:xfrm>
          <a:prstGeom prst="roundRect">
            <a:avLst>
              <a:gd name="adj" fmla="val 8000"/>
            </a:avLst>
          </a:prstGeom>
          <a:solidFill>
            <a:srgbClr val="E6F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72200" y="3749039"/>
            <a:ext cx="91440" cy="2514600"/>
          </a:xfrm>
          <a:prstGeom prst="rect">
            <a:avLst/>
          </a:prstGeom>
          <a:solidFill>
            <a:srgbClr val="2E8C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55080" y="3877055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744"/>
                </a:solidFill>
                <a:latin typeface="Calibri"/>
              </a:rPr>
              <a:t>7 Update sheet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5080" y="4251959"/>
            <a:ext cx="2468880" cy="1874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C2430"/>
                </a:solidFill>
                <a:latin typeface="Calibri"/>
              </a:rPr>
              <a:t>Write grade + succeed flag.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098280" y="3749039"/>
            <a:ext cx="2788920" cy="2514600"/>
          </a:xfrm>
          <a:prstGeom prst="roundRect">
            <a:avLst>
              <a:gd name="adj" fmla="val 8000"/>
            </a:avLst>
          </a:prstGeom>
          <a:solidFill>
            <a:srgbClr val="E6F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098280" y="3749039"/>
            <a:ext cx="91440" cy="2514600"/>
          </a:xfrm>
          <a:prstGeom prst="rect">
            <a:avLst/>
          </a:prstGeom>
          <a:solidFill>
            <a:srgbClr val="2E8C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281160" y="3877055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744"/>
                </a:solidFill>
                <a:latin typeface="Calibri"/>
              </a:rPr>
              <a:t>8 Email + Telegram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81160" y="4251959"/>
            <a:ext cx="2468880" cy="1874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C2430"/>
                </a:solidFill>
                <a:latin typeface="Calibri"/>
              </a:rPr>
              <a:t>Result mail + restudy tip if Fail.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6601968"/>
            <a:ext cx="12081967" cy="256032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96012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6676"/>
                </a:solidFill>
                <a:latin typeface="Calibri"/>
                <a:hlinkClick r:id="rId2"/>
              </a:rPr>
              <a:t>https://github.com/ahmedhamedali82/AdaptiveEdu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6304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C7E"/>
                </a:solidFill>
                <a:latin typeface="Calibri"/>
              </a:rPr>
              <a:t>N8N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65760"/>
            <a:ext cx="11338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1"/>
                </a:solidFill>
                <a:latin typeface="Calibri"/>
              </a:rPr>
              <a:t>Live workflow ADAPTIVE_14 (48 nodes) — successful run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04672"/>
            <a:ext cx="1280160" cy="54864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6_n8n_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960120"/>
            <a:ext cx="11704320" cy="65836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5760" y="589788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0F2744"/>
                </a:solidFill>
                <a:latin typeface="Calibri"/>
              </a:rPr>
              <a:t>Green path: register / subject list.  Message types: student ID  ·  subject code  ·  answers Excel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6601968"/>
            <a:ext cx="12081967" cy="256032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96012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6676"/>
                </a:solidFill>
                <a:latin typeface="Calibri"/>
                <a:hlinkClick r:id="rId2"/>
              </a:rPr>
              <a:t>https://github.com/ahmedhamedali82/AdaptiveEdu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6304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C7E"/>
                </a:solidFill>
                <a:latin typeface="Calibri"/>
              </a:rPr>
              <a:t>TOOLS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65760"/>
            <a:ext cx="11338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1"/>
                </a:solidFill>
                <a:latin typeface="Calibri"/>
              </a:rPr>
              <a:t>What each tool does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04672"/>
            <a:ext cx="1280160" cy="54864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5760" y="1051560"/>
            <a:ext cx="3703320" cy="2468880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051560"/>
            <a:ext cx="91440" cy="246888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179576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Telegram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554480"/>
            <a:ext cx="33832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C2430"/>
                </a:solidFill>
                <a:latin typeface="Calibri"/>
              </a:rPr>
              <a:t>Student screen. Bot link on cover.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24528" y="1051560"/>
            <a:ext cx="3703320" cy="2468880"/>
          </a:xfrm>
          <a:prstGeom prst="roundRect">
            <a:avLst>
              <a:gd name="adj" fmla="val 8000"/>
            </a:avLst>
          </a:prstGeom>
          <a:solidFill>
            <a:srgbClr val="E6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24528" y="1051560"/>
            <a:ext cx="91440" cy="246888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07408" y="1179576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n8n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8" y="1554480"/>
            <a:ext cx="33832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C2430"/>
                </a:solidFill>
                <a:latin typeface="Calibri"/>
              </a:rPr>
              <a:t>Orchestrates all paths.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83296" y="1051560"/>
            <a:ext cx="3703320" cy="2468880"/>
          </a:xfrm>
          <a:prstGeom prst="roundRect">
            <a:avLst>
              <a:gd name="adj" fmla="val 8000"/>
            </a:avLst>
          </a:prstGeom>
          <a:solidFill>
            <a:srgbClr val="FFF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83296" y="1051560"/>
            <a:ext cx="91440" cy="246888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66176" y="1179576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Google Sheets ×3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6176" y="1554480"/>
            <a:ext cx="33832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C2430"/>
                </a:solidFill>
                <a:latin typeface="Calibri"/>
              </a:rPr>
              <a:t>Students, lessons, progress.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3703320"/>
            <a:ext cx="3703320" cy="2468880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3703320"/>
            <a:ext cx="91440" cy="246888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831336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Gemini AI Agent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206240"/>
            <a:ext cx="33832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C2430"/>
                </a:solidFill>
                <a:latin typeface="Calibri"/>
              </a:rPr>
              <a:t>Writes lesson + model answers.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24528" y="3703320"/>
            <a:ext cx="3703320" cy="2468880"/>
          </a:xfrm>
          <a:prstGeom prst="roundRect">
            <a:avLst>
              <a:gd name="adj" fmla="val 8000"/>
            </a:avLst>
          </a:prstGeom>
          <a:solidFill>
            <a:srgbClr val="E6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24528" y="3703320"/>
            <a:ext cx="91440" cy="246888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07408" y="3831336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PDFShift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07408" y="4206240"/>
            <a:ext cx="33832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C2430"/>
                </a:solidFill>
                <a:latin typeface="Calibri"/>
              </a:rPr>
              <a:t>HTML → binary PDF for email.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83296" y="3703320"/>
            <a:ext cx="3703320" cy="2468880"/>
          </a:xfrm>
          <a:prstGeom prst="roundRect">
            <a:avLst>
              <a:gd name="adj" fmla="val 8000"/>
            </a:avLst>
          </a:prstGeom>
          <a:solidFill>
            <a:srgbClr val="FFF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83296" y="3703320"/>
            <a:ext cx="91440" cy="246888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66176" y="3831336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Gmail + Drive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66176" y="4206240"/>
            <a:ext cx="33832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C2430"/>
                </a:solidFill>
                <a:latin typeface="Calibri"/>
              </a:rPr>
              <a:t>Attach PDF + store answer files.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6601968"/>
            <a:ext cx="12081967" cy="256032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96012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6676"/>
                </a:solidFill>
                <a:latin typeface="Calibri"/>
                <a:hlinkClick r:id="rId2"/>
              </a:rPr>
              <a:t>https://github.com/ahmedhamedali82/AdaptiveEdu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6304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C7E"/>
                </a:solidFill>
                <a:latin typeface="Calibri"/>
              </a:rPr>
              <a:t>QUIZ 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65760"/>
            <a:ext cx="11338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1"/>
                </a:solidFill>
                <a:latin typeface="Calibri"/>
              </a:rPr>
              <a:t>Exact Excel style the bot accepts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04672"/>
            <a:ext cx="1280160" cy="54864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10_answer_sheet_f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051560"/>
            <a:ext cx="11155680" cy="627507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0F2744"/>
                </a:solidFill>
                <a:latin typeface="Calibri"/>
              </a:rPr>
              <a:t>Example for Ahmed (ST005), Physical Education (8), lesson 1  →  file name ST005_8_1.xlsx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6601968"/>
            <a:ext cx="12081967" cy="256032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96012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6676"/>
                </a:solidFill>
                <a:latin typeface="Calibri"/>
                <a:hlinkClick r:id="rId2"/>
              </a:rPr>
              <a:t>https://github.com/ahmedhamedali82/AdaptiveEdu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6304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C7E"/>
                </a:solidFill>
                <a:latin typeface="Calibri"/>
              </a:rPr>
              <a:t>LIVE DEMO  ·  TELEGRAM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65760"/>
            <a:ext cx="11338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1"/>
                </a:solidFill>
                <a:latin typeface="Calibri"/>
              </a:rPr>
              <a:t>Bot messages (subjects + validation)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04672"/>
            <a:ext cx="1280160" cy="54864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1_telegram_bot_subjec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960120"/>
            <a:ext cx="9591040" cy="539496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709160" y="1051560"/>
            <a:ext cx="7086600" cy="2286000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709160" y="1051560"/>
            <a:ext cx="91440" cy="228600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92040" y="1179576"/>
            <a:ext cx="6766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What you should see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1554480"/>
            <a:ext cx="67665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C2430"/>
                </a:solidFill>
                <a:latin typeface="Calibri"/>
              </a:rPr>
              <a:t>After a valid ID, the bot lists subjects 1–8 and offers to upload an answers file.
Send a subject number (example: 4) to open the next lesson.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09160" y="3566160"/>
            <a:ext cx="7086600" cy="2606040"/>
          </a:xfrm>
          <a:prstGeom prst="roundRect">
            <a:avLst>
              <a:gd name="adj" fmla="val 8000"/>
            </a:avLst>
          </a:prstGeom>
          <a:solidFill>
            <a:srgbClr val="FFF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09160" y="3566160"/>
            <a:ext cx="91440" cy="2606040"/>
          </a:xfrm>
          <a:prstGeom prst="rect">
            <a:avLst/>
          </a:prstGeom>
          <a:solidFill>
            <a:srgbClr val="E87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92040" y="3694176"/>
            <a:ext cx="6766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Validation messages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4069080"/>
            <a:ext cx="6766560" cy="1965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C2430"/>
                </a:solidFill>
                <a:latin typeface="Calibri"/>
              </a:rPr>
              <a:t>Wrong subject → “كود المادة غير موجود…”
Wrong / unknown student ID → “كود الطالب غير صحيح…”
These prove the Sheets checks are live.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6601968"/>
            <a:ext cx="12081967" cy="256032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96012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6676"/>
                </a:solidFill>
                <a:latin typeface="Calibri"/>
                <a:hlinkClick r:id="rId2"/>
              </a:rPr>
              <a:t>https://github.com/ahmedhamedali82/AdaptiveEdu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6304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C7E"/>
                </a:solidFill>
                <a:latin typeface="Calibri"/>
              </a:rPr>
              <a:t>LIVE DEMO  ·  LESSON DELIVERY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65760"/>
            <a:ext cx="11338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1"/>
                </a:solidFill>
                <a:latin typeface="Calibri"/>
              </a:rPr>
              <a:t>Telegram notice + Gmail with PDF attachment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04672"/>
            <a:ext cx="1280160" cy="54864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7_telegram_lesson_s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005840"/>
            <a:ext cx="5394960" cy="3034665"/>
          </a:xfrm>
          <a:prstGeom prst="rect">
            <a:avLst/>
          </a:prstGeom>
        </p:spPr>
      </p:pic>
      <p:pic>
        <p:nvPicPr>
          <p:cNvPr id="11" name="Picture 10" descr="08_email_lesson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1005840"/>
            <a:ext cx="5852160" cy="32918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5760" y="585216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0F2744"/>
                </a:solidFill>
                <a:latin typeface="Calibri"/>
              </a:rPr>
              <a:t>Real email example: Physical Education → Sports Skills → PDF attachment → reply with ST005_8_1.xlsx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6601968"/>
            <a:ext cx="12081967" cy="256032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96012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6676"/>
                </a:solidFill>
                <a:latin typeface="Calibri"/>
                <a:hlinkClick r:id="rId2"/>
              </a:rPr>
              <a:t>https://github.com/ahmedhamedali82/AdaptiveEdu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6304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C7E"/>
                </a:solidFill>
                <a:latin typeface="Calibri"/>
              </a:rPr>
              <a:t>LIVE DEMO  ·  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65760"/>
            <a:ext cx="11338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1"/>
                </a:solidFill>
                <a:latin typeface="Calibri"/>
              </a:rPr>
              <a:t>Same student — Fail then Pass emails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04672"/>
            <a:ext cx="1280160" cy="54864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11_email_fail_4_of_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051560"/>
            <a:ext cx="5577840" cy="3137535"/>
          </a:xfrm>
          <a:prstGeom prst="rect">
            <a:avLst/>
          </a:prstGeom>
        </p:spPr>
      </p:pic>
      <p:pic>
        <p:nvPicPr>
          <p:cNvPr id="11" name="Picture 10" descr="12_email_pass_10_of_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051560"/>
            <a:ext cx="5577840" cy="313753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5760" y="5074920"/>
            <a:ext cx="5577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B91C1C"/>
                </a:solidFill>
                <a:latin typeface="Calibri"/>
              </a:rPr>
              <a:t>Fail example: 4 / 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5074920"/>
            <a:ext cx="5577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2E8C5A"/>
                </a:solidFill>
                <a:latin typeface="Calibri"/>
              </a:rPr>
              <a:t>Pass example: 10 / 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6235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0F2744"/>
                </a:solidFill>
                <a:latin typeface="Calibri"/>
              </a:rPr>
              <a:t>Rule in n8n: Pass if grade &gt; 6. Fail → restudy same lesson and upload again. Pass → next lesson_code opens.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6601968"/>
            <a:ext cx="12081967" cy="256032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96012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6676"/>
                </a:solidFill>
                <a:latin typeface="Calibri"/>
                <a:hlinkClick r:id="rId2"/>
              </a:rPr>
              <a:t>https://github.com/ahmedhamedali82/AdaptiveEdu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Calibri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6304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C7E"/>
                </a:solidFill>
                <a:latin typeface="Calibri"/>
              </a:rPr>
              <a:t>RULE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65760"/>
            <a:ext cx="11338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1"/>
                </a:solidFill>
                <a:latin typeface="Calibri"/>
              </a:rPr>
              <a:t>Pass, fail, and what happens next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04672"/>
            <a:ext cx="1280160" cy="54864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5760" y="1051560"/>
            <a:ext cx="5623560" cy="5212080"/>
          </a:xfrm>
          <a:prstGeom prst="roundRect">
            <a:avLst>
              <a:gd name="adj" fmla="val 8000"/>
            </a:avLst>
          </a:prstGeom>
          <a:solidFill>
            <a:srgbClr val="E6F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051560"/>
            <a:ext cx="91440" cy="5212080"/>
          </a:xfrm>
          <a:prstGeom prst="rect">
            <a:avLst/>
          </a:prstGeom>
          <a:solidFill>
            <a:srgbClr val="2E8C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179576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744"/>
                </a:solidFill>
                <a:latin typeface="Calibri"/>
              </a:rPr>
              <a:t>Pass  ·  more than 6 / 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554480"/>
            <a:ext cx="530352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C2430"/>
                </a:solidFill>
                <a:latin typeface="Calibri"/>
              </a:rPr>
              <a:t>student_progress: succeed = 1
grade saved with ANS_1…ANS_10
Email: “you are Pass”
Telegram: grading done.
Next subject request opens lesson_code + 1.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051560"/>
            <a:ext cx="5623560" cy="5212080"/>
          </a:xfrm>
          <a:prstGeom prst="roundRect">
            <a:avLst>
              <a:gd name="adj" fmla="val 8000"/>
            </a:avLst>
          </a:prstGeom>
          <a:solidFill>
            <a:srgbClr val="FFEC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051560"/>
            <a:ext cx="91440" cy="521208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1179576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744"/>
                </a:solidFill>
                <a:latin typeface="Calibri"/>
              </a:rPr>
              <a:t>Fail  ·  6 or less / 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1554480"/>
            <a:ext cx="530352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C2430"/>
                </a:solidFill>
                <a:latin typeface="Calibri"/>
              </a:rPr>
              <a:t>student_progress: succeed = 0
Email: “you are Fail”
Telegram: restudy and resend answers.
Same lesson stays open until Pass.
Wrong file name is refused.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6601968"/>
            <a:ext cx="12081967" cy="256032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96012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6676"/>
                </a:solidFill>
                <a:latin typeface="Calibri"/>
                <a:hlinkClick r:id="rId2"/>
              </a:rPr>
              <a:t>https://github.com/ahmedhamedali82/AdaptiveEdu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Calibri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6304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C7E"/>
                </a:solidFill>
                <a:latin typeface="Calibri"/>
              </a:rPr>
              <a:t>BOT + EMAIL 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65760"/>
            <a:ext cx="11338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1"/>
                </a:solidFill>
                <a:latin typeface="Calibri"/>
              </a:rPr>
              <a:t>Key messages the panel can read aloud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04672"/>
            <a:ext cx="1280160" cy="54864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1_telegram_bot_subjec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5669280" cy="3188970"/>
          </a:xfrm>
          <a:prstGeom prst="rect">
            <a:avLst/>
          </a:prstGeom>
        </p:spPr>
      </p:pic>
      <p:pic>
        <p:nvPicPr>
          <p:cNvPr id="11" name="Picture 10" descr="13_telegram_lesson2_s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005840"/>
            <a:ext cx="5669280" cy="318897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5760" y="580644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5A6676"/>
                </a:solidFill>
                <a:latin typeface="Calibri"/>
              </a:rPr>
              <a:t>Left: welcome + subject list after register.   Right: after Excel upload (before the result email).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6601968"/>
            <a:ext cx="12081967" cy="256032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96012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6676"/>
                </a:solidFill>
                <a:latin typeface="Calibri"/>
                <a:hlinkClick r:id="rId2"/>
              </a:rPr>
              <a:t>https://github.com/ahmedhamedali82/AdaptiveEdu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Calibri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6304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C7E"/>
                </a:solidFill>
                <a:latin typeface="Calibri"/>
              </a:rPr>
              <a:t>SUBMIT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65760"/>
            <a:ext cx="11338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1"/>
                </a:solidFill>
                <a:latin typeface="Calibri"/>
              </a:rPr>
              <a:t>What the panel should see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04672"/>
            <a:ext cx="1280160" cy="54864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5760" y="1051560"/>
            <a:ext cx="3703320" cy="24688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051560"/>
            <a:ext cx="91440" cy="246888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179576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Working bot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554480"/>
            <a:ext cx="33832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C2430"/>
                </a:solidFill>
                <a:latin typeface="Calibri"/>
              </a:rPr>
              <a:t>t.me/AdaptiveEdubot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24528" y="1051560"/>
            <a:ext cx="3703320" cy="24688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24528" y="1051560"/>
            <a:ext cx="91440" cy="246888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07408" y="1179576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n8n JSON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8" y="1554480"/>
            <a:ext cx="33832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C2430"/>
                </a:solidFill>
                <a:latin typeface="Calibri"/>
              </a:rPr>
              <a:t>AdaptiveEdu.json (ADAPTIVE_14)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83296" y="1051560"/>
            <a:ext cx="3703320" cy="24688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83296" y="1051560"/>
            <a:ext cx="91440" cy="246888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66176" y="1179576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3 Sheets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6176" y="1554480"/>
            <a:ext cx="33832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C2430"/>
                </a:solidFill>
                <a:latin typeface="Calibri"/>
              </a:rPr>
              <a:t>Students · Lessons · Progress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3703320"/>
            <a:ext cx="3703320" cy="24688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3703320"/>
            <a:ext cx="91440" cy="246888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831336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This PPT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206240"/>
            <a:ext cx="33832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C2430"/>
                </a:solidFill>
                <a:latin typeface="Calibri"/>
              </a:rPr>
              <a:t>Journey + n8n steps + live shots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24528" y="3703320"/>
            <a:ext cx="3703320" cy="24688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24528" y="3703320"/>
            <a:ext cx="91440" cy="246888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07408" y="3831336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Docs + video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07408" y="4206240"/>
            <a:ext cx="33832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C2430"/>
                </a:solidFill>
                <a:latin typeface="Calibri"/>
              </a:rPr>
              <a:t>Full write-up + 2–5 min demo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83296" y="3703320"/>
            <a:ext cx="3703320" cy="24688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83296" y="3703320"/>
            <a:ext cx="91440" cy="246888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66176" y="3831336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GitHub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66176" y="4206240"/>
            <a:ext cx="33832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C2430"/>
                </a:solidFill>
                <a:latin typeface="Calibri"/>
              </a:rPr>
              <a:t>github.com/ahmedhamedali82/AdaptiveEdu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6601968"/>
            <a:ext cx="12081967" cy="256032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96012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6676"/>
                </a:solidFill>
                <a:latin typeface="Calibri"/>
                <a:hlinkClick r:id="rId2"/>
              </a:rPr>
              <a:t>https://github.com/ahmedhamedali82/AdaptiveEdu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Calibri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6304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C7E"/>
                </a:solidFill>
                <a:latin typeface="Calibri"/>
              </a:rPr>
              <a:t>LIVE DEMO SCRIPT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65760"/>
            <a:ext cx="11338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1"/>
                </a:solidFill>
                <a:latin typeface="Calibri"/>
              </a:rPr>
              <a:t>Say this. Do this. ~3 minutes.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04672"/>
            <a:ext cx="1280160" cy="54864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5760" y="1051560"/>
            <a:ext cx="11430000" cy="777240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1188719"/>
            <a:ext cx="502920" cy="502920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188719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161288"/>
            <a:ext cx="4114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0F2744"/>
                </a:solidFill>
                <a:latin typeface="Calibri"/>
              </a:rPr>
              <a:t>Open Telegram bot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1161288"/>
            <a:ext cx="6035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1C2430"/>
                </a:solidFill>
                <a:latin typeface="Calibri"/>
              </a:rPr>
              <a:t>Send ST005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1920239"/>
            <a:ext cx="11430000" cy="77724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2057399"/>
            <a:ext cx="502920" cy="502920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057399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2029967"/>
            <a:ext cx="4114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0F2744"/>
                </a:solidFill>
                <a:latin typeface="Calibri"/>
              </a:rPr>
              <a:t>Show subject list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2029967"/>
            <a:ext cx="6035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1C2430"/>
                </a:solidFill>
                <a:latin typeface="Calibri"/>
              </a:rPr>
              <a:t>Send 8 (Physical Education)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2788920"/>
            <a:ext cx="11430000" cy="777240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2926079"/>
            <a:ext cx="502920" cy="502920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2926079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2898648"/>
            <a:ext cx="4114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0F2744"/>
                </a:solidFill>
                <a:latin typeface="Calibri"/>
              </a:rPr>
              <a:t>Open Gmail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2898648"/>
            <a:ext cx="6035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1C2430"/>
                </a:solidFill>
                <a:latin typeface="Calibri"/>
              </a:rPr>
              <a:t>PDF attachment + file name ST005_8_1.xlsx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3657599"/>
            <a:ext cx="11430000" cy="77724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02920" y="3794759"/>
            <a:ext cx="502920" cy="502920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3794759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3767327"/>
            <a:ext cx="4114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0F2744"/>
                </a:solidFill>
                <a:latin typeface="Calibri"/>
              </a:rPr>
              <a:t>Show Excel row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0" y="3767327"/>
            <a:ext cx="6035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1C2430"/>
                </a:solidFill>
                <a:latin typeface="Calibri"/>
              </a:rPr>
              <a:t>10 capital letters, no header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4526279"/>
            <a:ext cx="11430000" cy="777240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02920" y="4663440"/>
            <a:ext cx="502920" cy="502920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466344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34440" y="4636007"/>
            <a:ext cx="4114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0F2744"/>
                </a:solidFill>
                <a:latin typeface="Calibri"/>
              </a:rPr>
              <a:t>Upload file on Telegram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0" y="4636007"/>
            <a:ext cx="6035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1C2430"/>
                </a:solidFill>
                <a:latin typeface="Calibri"/>
              </a:rPr>
              <a:t>Bot confirms grading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5760" y="5394960"/>
            <a:ext cx="11430000" cy="77724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02920" y="5532120"/>
            <a:ext cx="502920" cy="502920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553212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34440" y="5504688"/>
            <a:ext cx="4114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0F2744"/>
                </a:solidFill>
                <a:latin typeface="Calibri"/>
              </a:rPr>
              <a:t>Fail 4/10 → retake → Pass 10/10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5504688"/>
            <a:ext cx="6035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1C2430"/>
                </a:solidFill>
                <a:latin typeface="Calibri"/>
              </a:rPr>
              <a:t>Then lesson 2 + student_progress row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